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embeddedFontLst>
    <p:embeddedFont>
      <p:font typeface="Nunito SemiBold"/>
      <p:regular r:id="rId26"/>
      <p:bold r:id="rId27"/>
      <p:italic r:id="rId28"/>
      <p:boldItalic r:id="rId29"/>
    </p:embeddedFont>
    <p:embeddedFont>
      <p:font typeface="Nunito"/>
      <p:regular r:id="rId30"/>
      <p:bold r:id="rId31"/>
      <p:italic r:id="rId32"/>
      <p:boldItalic r:id="rId33"/>
    </p:embeddedFont>
    <p:embeddedFont>
      <p:font typeface="Nunito ExtraBold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jX3S80LOcgU5lCuEJ41z7/OOSd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DAE72C-A950-4693-8F07-7D0CC44893C6}">
  <a:tblStyle styleId="{59DAE72C-A950-4693-8F07-7D0CC44893C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  <a:tblStyle styleId="{2713748B-0C40-47D7-8BAD-1BA189E6510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unitoSemiBold-regular.fntdata"/><Relationship Id="rId25" Type="http://schemas.openxmlformats.org/officeDocument/2006/relationships/slide" Target="slides/slide18.xml"/><Relationship Id="rId28" Type="http://schemas.openxmlformats.org/officeDocument/2006/relationships/font" Target="fonts/NunitoSemiBold-italic.fntdata"/><Relationship Id="rId27" Type="http://schemas.openxmlformats.org/officeDocument/2006/relationships/font" Target="fonts/NunitoSemiBold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NunitoSemiBold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Nunito-bold.fntdata"/><Relationship Id="rId30" Type="http://schemas.openxmlformats.org/officeDocument/2006/relationships/font" Target="fonts/Nunito-regular.fntdata"/><Relationship Id="rId11" Type="http://schemas.openxmlformats.org/officeDocument/2006/relationships/slide" Target="slides/slide4.xml"/><Relationship Id="rId33" Type="http://schemas.openxmlformats.org/officeDocument/2006/relationships/font" Target="fonts/Nunito-boldItalic.fntdata"/><Relationship Id="rId10" Type="http://schemas.openxmlformats.org/officeDocument/2006/relationships/slide" Target="slides/slide3.xml"/><Relationship Id="rId32" Type="http://schemas.openxmlformats.org/officeDocument/2006/relationships/font" Target="fonts/Nunito-italic.fntdata"/><Relationship Id="rId13" Type="http://schemas.openxmlformats.org/officeDocument/2006/relationships/slide" Target="slides/slide6.xml"/><Relationship Id="rId35" Type="http://schemas.openxmlformats.org/officeDocument/2006/relationships/font" Target="fonts/NunitoExtraBold-boldItalic.fntdata"/><Relationship Id="rId12" Type="http://schemas.openxmlformats.org/officeDocument/2006/relationships/slide" Target="slides/slide5.xml"/><Relationship Id="rId34" Type="http://schemas.openxmlformats.org/officeDocument/2006/relationships/font" Target="fonts/NunitoExtraBold-bold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customschemas.google.com/relationships/presentationmetadata" Target="meta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0e9006cb6c_1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10e9006cb6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3fdb9d8b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13fdb9d8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4593f67cd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14593f67c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14593f67cd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14593f67c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14fbe34c1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14fbe34c1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4fbe34c15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14fbe34c1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14aef4ab3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14aef4ab3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14aef4ab3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14aef4ab3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4aef4ab3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14aef4ab3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4a450a78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14a450a78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0e9006cb6c_1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10e9006cb6c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0ae355dec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10ae355de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0ee00f67ea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10ee00f67ea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10ee00f67ea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10ee00f67ea_0_55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e1a9588eba_0_9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" name="Google Shape;16;ge1a9588eba_0_9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e1a9588eba_0_1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" name="Google Shape;19;ge1a9588eba_0_1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ge1a9588eba_0_1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e1a9588eba_0_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ge1a9588eba_0_1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e1a9588eba_0_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ge1a9588eba_0_19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{59DAE72C-A950-4693-8F07-7D0CC44893C6}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ge1a9588eba_0_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e1a9588eba_0_2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ge1a9588eba_0_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e1a9588eba_0_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ge1a9588eba_0_2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e1a9588eba_0_28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ge1a9588eba_0_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e1a9588eba_0_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e1a9588eba_0_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e1a9588eba_0_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e1a9588eba_0_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e1a9588eba_0_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e1a9588eba_0_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ge1a9588eba_0_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e1a9588eba_0_4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9588eba_0_42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ge1a9588eba_0_42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ge1a9588eba_0_42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ge1a9588eba_0_42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ge1a9588eba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ee00f67ea_0_104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64" name="Google Shape;64;g10ee00f67ea_0_104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10ee00f67ea_0_104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g10ee00f67ea_0_104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67" name="Google Shape;67;g10ee00f67ea_0_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ee00f67ea_0_71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0" name="Google Shape;70;g10ee00f67ea_0_71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0ee00f67ea_0_7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73" name="Google Shape;73;g10ee00f67ea_0_7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0ee00f67ea_0_7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g10ee00f67ea_0_77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7" name="Google Shape;77;g10ee00f67ea_0_7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0ee00f67ea_0_8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80" name="Google Shape;80;g10ee00f67ea_0_81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{59DAE72C-A950-4693-8F07-7D0CC44893C6}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81" name="Google Shape;81;g10ee00f67ea_0_8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0ee00f67ea_0_8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4" name="Google Shape;84;g10ee00f67ea_0_8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g10ee00f67ea_0_8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g10ee00f67ea_0_8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ee00f67ea_0_9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9" name="Google Shape;89;g10ee00f67ea_0_9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0ee00f67ea_0_9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2" name="Google Shape;92;g10ee00f67ea_0_9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ee00f67ea_0_9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10ee00f67ea_0_9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6" name="Google Shape;96;g10ee00f67ea_0_9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7" name="Google Shape;97;g10ee00f67ea_0_9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98" name="Google Shape;98;g10ee00f67ea_0_9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0ee00f67ea_0_10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e1a9588eba_0_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ge1a9588eba_0_0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ge1a9588eba_0_0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ge1a9588eba_0_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ge1a9588eba_0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ge1a9588eba_0_0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ge1a9588eba_0_0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e1a9588eba_0_0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0ee00f67ea_0_6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55" name="Google Shape;55;g10ee00f67ea_0_62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6" name="Google Shape;56;g10ee00f67ea_0_62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g10ee00f67ea_0_6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g10ee00f67ea_0_6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g10ee00f67ea_0_62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60" name="Google Shape;60;g10ee00f67ea_0_62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10ee00f67ea_0_62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p14:dur="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10" Type="http://schemas.openxmlformats.org/officeDocument/2006/relationships/image" Target="../media/image12.png"/><Relationship Id="rId9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1158150" y="1412050"/>
            <a:ext cx="6827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/>
              <a:t>Plant Seedling Image Identification using CNN</a:t>
            </a:r>
            <a:endParaRPr sz="3600"/>
          </a:p>
        </p:txBody>
      </p:sp>
      <p:sp>
        <p:nvSpPr>
          <p:cNvPr id="106" name="Google Shape;106;p1"/>
          <p:cNvSpPr txBox="1"/>
          <p:nvPr>
            <p:ph type="ctrTitle"/>
          </p:nvPr>
        </p:nvSpPr>
        <p:spPr>
          <a:xfrm>
            <a:off x="1153000" y="2038575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3000"/>
              <a:t>Computer Vision</a:t>
            </a:r>
            <a:endParaRPr b="0" sz="3000"/>
          </a:p>
        </p:txBody>
      </p:sp>
      <p:sp>
        <p:nvSpPr>
          <p:cNvPr id="107" name="Google Shape;107;p1"/>
          <p:cNvSpPr txBox="1"/>
          <p:nvPr>
            <p:ph type="ctrTitle"/>
          </p:nvPr>
        </p:nvSpPr>
        <p:spPr>
          <a:xfrm>
            <a:off x="1153000" y="2429300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1600"/>
              <a:t>11/11/2024</a:t>
            </a:r>
            <a:endParaRPr b="0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Contents / Agenda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13" name="Google Shape;113;p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Executive Summary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Business Problem Overview and Solution Approach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EDA Results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Data Preprocessing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Performance Summary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Conclusion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Appendix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e9006cb6c_1_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Executive Summary 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19" name="Google Shape;119;g10e9006cb6c_1_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With th</a:t>
            </a:r>
            <a:r>
              <a:rPr lang="en" sz="1400">
                <a:solidFill>
                  <a:srgbClr val="000000"/>
                </a:solidFill>
              </a:rPr>
              <a:t>e input of small </a:t>
            </a:r>
            <a:r>
              <a:rPr lang="en" sz="1400">
                <a:solidFill>
                  <a:srgbClr val="000000"/>
                </a:solidFill>
              </a:rPr>
              <a:t>images and imbalanced data, the final model with accuracy of 72.63%, produced fairly good results. If this satisfies the requirement, the company can use it to classify different images taken to reduce manual labor</a:t>
            </a:r>
            <a:br>
              <a:rPr lang="en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In order to further improve the performance and prediction of the model, the following options can be explored -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sz="1400">
                <a:solidFill>
                  <a:srgbClr val="000000"/>
                </a:solidFill>
              </a:rPr>
              <a:t>Providing a confidence score along with the prediction will be helpful in making decisions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○"/>
            </a:pPr>
            <a:r>
              <a:rPr lang="en" sz="1400">
                <a:solidFill>
                  <a:srgbClr val="000000"/>
                </a:solidFill>
              </a:rPr>
              <a:t>Using a pretrained model or another model architecture can be explored to improve the accuracy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Business Problem Overview and Solution Approach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25" name="Google Shape;125;p3"/>
          <p:cNvSpPr txBox="1"/>
          <p:nvPr>
            <p:ph idx="1" type="body"/>
          </p:nvPr>
        </p:nvSpPr>
        <p:spPr>
          <a:xfrm>
            <a:off x="491225" y="861975"/>
            <a:ext cx="83412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Problem Statement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Agricultural processes are manual labor-intensive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Plant and weed identification is very time consuming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There have been limited </a:t>
            </a:r>
            <a:r>
              <a:rPr lang="en" sz="1400">
                <a:solidFill>
                  <a:srgbClr val="000000"/>
                </a:solidFill>
              </a:rPr>
              <a:t>technological advancements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Opportunity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$1 trillion+ industry ripe for innovation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AI and Deep Learning can transform agriculture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Benefits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Reduce manual labor and enhance efficiency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Improve crop yield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Promotes sustainable environmental practices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3fdb9d8bc_0_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Business Problem Overview and Solution Approach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31" name="Google Shape;131;g313fdb9d8bc_0_0"/>
          <p:cNvSpPr txBox="1"/>
          <p:nvPr>
            <p:ph idx="1" type="body"/>
          </p:nvPr>
        </p:nvSpPr>
        <p:spPr>
          <a:xfrm>
            <a:off x="202550" y="861975"/>
            <a:ext cx="86298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Solution Approach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Develop a Convolutional Neural Network (CNN) model to classify plant seedlings into 12 categories</a:t>
            </a:r>
            <a:endParaRPr b="1"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sz="1400">
                <a:solidFill>
                  <a:srgbClr val="000000"/>
                </a:solidFill>
              </a:rPr>
              <a:t>Performing exploratory data analysis by means of Python visualization to understand the gaps in the data set 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sz="1400">
                <a:solidFill>
                  <a:srgbClr val="000000"/>
                </a:solidFill>
              </a:rPr>
              <a:t>Pre-processing the data to improve overall performance of the classification model 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sz="1400">
                <a:solidFill>
                  <a:srgbClr val="000000"/>
                </a:solidFill>
              </a:rPr>
              <a:t>Using Convolutional Neural Networks as means of classification, training the model and improving performance and </a:t>
            </a:r>
            <a:r>
              <a:rPr lang="en" sz="1400">
                <a:solidFill>
                  <a:srgbClr val="000000"/>
                </a:solidFill>
              </a:rPr>
              <a:t>reduce overfitting </a:t>
            </a:r>
            <a:r>
              <a:rPr lang="en" sz="1400">
                <a:solidFill>
                  <a:srgbClr val="000000"/>
                </a:solidFill>
              </a:rPr>
              <a:t>using data augmentation techniques 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sz="1400">
                <a:solidFill>
                  <a:srgbClr val="000000"/>
                </a:solidFill>
              </a:rPr>
              <a:t>Use the trained model to derive actionable insights for informed decision making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sz="1400">
                <a:solidFill>
                  <a:srgbClr val="000000"/>
                </a:solidFill>
              </a:rPr>
              <a:t>Explore options to </a:t>
            </a:r>
            <a:r>
              <a:rPr lang="en" sz="1400">
                <a:solidFill>
                  <a:srgbClr val="000000"/>
                </a:solidFill>
              </a:rPr>
              <a:t>improve</a:t>
            </a:r>
            <a:r>
              <a:rPr lang="en" sz="1400">
                <a:solidFill>
                  <a:srgbClr val="000000"/>
                </a:solidFill>
              </a:rPr>
              <a:t> performance and accuracy of the model 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4593f67cd_0_1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EDA Results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37" name="Google Shape;137;g314593f67cd_0_17"/>
          <p:cNvSpPr txBox="1"/>
          <p:nvPr>
            <p:ph idx="1" type="body"/>
          </p:nvPr>
        </p:nvSpPr>
        <p:spPr>
          <a:xfrm>
            <a:off x="202550" y="785775"/>
            <a:ext cx="862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</a:rPr>
              <a:t>There are 12 types of plant seedling, 'Black-grass', 'Charlock', 'Cleavers', 'Common Chickweed', 'Common wheat', 'Fat Hen', 'Loose Silky-bent',  'Maize', 'Scentless Mayweed', 'Shepherds Purse', 'Small-flowered Cranesbill', 'Sugar beet'.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</a:rPr>
              <a:t>There are a total of f 4750 plant image, and each image is of shape 128 X 128</a:t>
            </a: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</a:rPr>
              <a:t>As the number of channels is 3, images are in RGB (Red, Blue, Green)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</p:txBody>
      </p:sp>
      <p:pic>
        <p:nvPicPr>
          <p:cNvPr id="138" name="Google Shape;138;g314593f67cd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1525" y="2001625"/>
            <a:ext cx="4486401" cy="314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14593f67cd_0_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EDA Results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44" name="Google Shape;144;g314593f67cd_0_2"/>
          <p:cNvSpPr txBox="1"/>
          <p:nvPr>
            <p:ph idx="1" type="body"/>
          </p:nvPr>
        </p:nvSpPr>
        <p:spPr>
          <a:xfrm>
            <a:off x="202550" y="785775"/>
            <a:ext cx="862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</a:rPr>
              <a:t>The highest number of samples are of plant type "Loose Silky bent" compared to other plant types</a:t>
            </a:r>
            <a:endParaRPr sz="12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</a:rPr>
              <a:t>“Common Wheat", "Maize" have the lowest count of samples</a:t>
            </a:r>
            <a:endParaRPr sz="1200">
              <a:solidFill>
                <a:srgbClr val="000000"/>
              </a:solidFill>
            </a:endParaRPr>
          </a:p>
        </p:txBody>
      </p:sp>
      <p:pic>
        <p:nvPicPr>
          <p:cNvPr id="145" name="Google Shape;145;g314593f67cd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6875" y="1298425"/>
            <a:ext cx="4361150" cy="3845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Data Preprocessing 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51" name="Google Shape;151;p4"/>
          <p:cNvSpPr txBox="1"/>
          <p:nvPr>
            <p:ph idx="1" type="body"/>
          </p:nvPr>
        </p:nvSpPr>
        <p:spPr>
          <a:xfrm>
            <a:off x="257100" y="806750"/>
            <a:ext cx="8629800" cy="4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Converted BGR images to RGB format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The images were resized from 128 to 64 in order to reduce computational costs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Dataset is split into 3 parts, train (80%), validation (10%) and test (10%) datasets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All plant labels are encoded using lableBinarizer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Data is normalized using scaling technique to modify the pixel value range of 0 to 255 to a 0 to 1 range, by dividing it by 255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</p:txBody>
      </p:sp>
      <p:grpSp>
        <p:nvGrpSpPr>
          <p:cNvPr id="152" name="Google Shape;152;p4"/>
          <p:cNvGrpSpPr/>
          <p:nvPr/>
        </p:nvGrpSpPr>
        <p:grpSpPr>
          <a:xfrm>
            <a:off x="2319142" y="1490740"/>
            <a:ext cx="4169121" cy="1544595"/>
            <a:chOff x="2544805" y="2635268"/>
            <a:chExt cx="4054382" cy="1712032"/>
          </a:xfrm>
        </p:grpSpPr>
        <p:pic>
          <p:nvPicPr>
            <p:cNvPr id="153" name="Google Shape;153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44805" y="2635268"/>
              <a:ext cx="1731400" cy="1698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48413" y="2635275"/>
              <a:ext cx="1702899" cy="1698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4"/>
            <p:cNvSpPr txBox="1"/>
            <p:nvPr/>
          </p:nvSpPr>
          <p:spPr>
            <a:xfrm>
              <a:off x="2723513" y="4168500"/>
              <a:ext cx="19011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rPr>
                <a:t>Before resizing</a:t>
              </a:r>
              <a:endPara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56" name="Google Shape;156;p4"/>
            <p:cNvSpPr txBox="1"/>
            <p:nvPr/>
          </p:nvSpPr>
          <p:spPr>
            <a:xfrm>
              <a:off x="4698088" y="4181700"/>
              <a:ext cx="19011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rPr>
                <a:t>After </a:t>
              </a:r>
              <a:r>
                <a:rPr lang="en" sz="15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rPr>
                <a:t>resizing</a:t>
              </a:r>
              <a:endPara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Model Performance Summary 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62" name="Google Shape;162;p6"/>
          <p:cNvSpPr txBox="1"/>
          <p:nvPr>
            <p:ph idx="1" type="body"/>
          </p:nvPr>
        </p:nvSpPr>
        <p:spPr>
          <a:xfrm>
            <a:off x="202550" y="861975"/>
            <a:ext cx="8629800" cy="15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classifier used is a CNN (Convolutional Neural Network) model which is most commonly used for image processing, including classification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Performance improvements were made to reduce loss and data augmentation techniques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improved model performed better than the base model. It has nearly 12% higher accuracy value, and a lower loss value, hence this can be used for plant seedling identification</a:t>
            </a:r>
            <a:endParaRPr sz="1400">
              <a:solidFill>
                <a:schemeClr val="dk1"/>
              </a:solidFill>
            </a:endParaRPr>
          </a:p>
        </p:txBody>
      </p:sp>
      <p:graphicFrame>
        <p:nvGraphicFramePr>
          <p:cNvPr id="163" name="Google Shape;163;p6"/>
          <p:cNvGraphicFramePr/>
          <p:nvPr/>
        </p:nvGraphicFramePr>
        <p:xfrm>
          <a:off x="856563" y="2447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{2713748B-0C40-47D7-8BAD-1BA189E6510D}</a:tableStyleId>
              </a:tblPr>
              <a:tblGrid>
                <a:gridCol w="1687225"/>
                <a:gridCol w="1276800"/>
                <a:gridCol w="1185350"/>
                <a:gridCol w="1234575"/>
                <a:gridCol w="1208350"/>
                <a:gridCol w="1142000"/>
              </a:tblGrid>
              <a:tr h="496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Loss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br>
                        <a:rPr lang="en"/>
                      </a:br>
                      <a:r>
                        <a:rPr lang="en"/>
                        <a:t>(wtd. avg.)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br>
                        <a:rPr lang="en"/>
                      </a:br>
                      <a:r>
                        <a:rPr lang="en"/>
                        <a:t>(wtd. avg.)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br>
                        <a:rPr lang="en"/>
                      </a:br>
                      <a:r>
                        <a:rPr lang="en"/>
                        <a:t>(wtd. avg.)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5B9BD5"/>
                    </a:solidFill>
                  </a:tcPr>
                </a:tc>
              </a:tr>
              <a:tr h="51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Base Model (CNN)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0.</a:t>
                      </a:r>
                      <a:r>
                        <a:rPr lang="en" sz="1500"/>
                        <a:t>6189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1.1928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0.62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0.62   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0.57  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763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Improved Model (CNN + Data Augmentation &amp; loss reduction)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0.7263</a:t>
                      </a:r>
                      <a:endParaRPr sz="15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0.8738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0.72   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0.73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    0.71</a:t>
                      </a:r>
                      <a:endParaRPr sz="1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4fbe34c15_0_1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>
                <a:solidFill>
                  <a:srgbClr val="1974D2"/>
                </a:solidFill>
              </a:rPr>
              <a:t>Model Performance Summary </a:t>
            </a:r>
            <a:endParaRPr>
              <a:solidFill>
                <a:srgbClr val="1974D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14fbe34c15_0_10"/>
          <p:cNvSpPr txBox="1"/>
          <p:nvPr>
            <p:ph idx="1" type="body"/>
          </p:nvPr>
        </p:nvSpPr>
        <p:spPr>
          <a:xfrm>
            <a:off x="93350" y="861975"/>
            <a:ext cx="8629800" cy="37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Final Prediction for some input images were correctly predicted as shown below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However the model has a high loss value</a:t>
            </a:r>
            <a:endParaRPr/>
          </a:p>
        </p:txBody>
      </p:sp>
      <p:pic>
        <p:nvPicPr>
          <p:cNvPr id="170" name="Google Shape;170;g314fbe34c15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113" y="1753350"/>
            <a:ext cx="1914525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14fbe34c15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9963" y="1753350"/>
            <a:ext cx="1914525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14fbe34c15_0_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7188" y="1753350"/>
            <a:ext cx="1914525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14fbe34c15_0_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08613" y="1753350"/>
            <a:ext cx="1914525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14fbe34c15_0_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3125" y="3629375"/>
            <a:ext cx="23774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14fbe34c15_0_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35537" y="3582837"/>
            <a:ext cx="1730675" cy="350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14fbe34c15_0_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81202" y="3592896"/>
            <a:ext cx="2127425" cy="330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14fbe34c15_0_1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900550" y="3582825"/>
            <a:ext cx="1914525" cy="29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4fbe34c15_0_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Model Performance Summary - Base Model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83" name="Google Shape;183;g314fbe34c15_0_3"/>
          <p:cNvSpPr txBox="1"/>
          <p:nvPr>
            <p:ph idx="1" type="body"/>
          </p:nvPr>
        </p:nvSpPr>
        <p:spPr>
          <a:xfrm>
            <a:off x="202550" y="861975"/>
            <a:ext cx="8629800" cy="1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classifier used is a CNN (Convolutional Neural Network) model which is most commonly used for image processing, including classification.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 base sequential model with stacked layers consisting of three sets of Conv and Maxpool layers, followed by flattening, dropout and output layers is built and trained with the training dataset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last layer has 12 outputs for 12 categories of plant types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184" name="Google Shape;184;g314fbe34c15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7175" y="2230925"/>
            <a:ext cx="4360325" cy="281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14aef4ab30_0_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974D2"/>
                </a:solidFill>
              </a:rPr>
              <a:t>Model Performance Summary - Base Model</a:t>
            </a:r>
            <a:endParaRPr>
              <a:solidFill>
                <a:srgbClr val="1974D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90" name="Google Shape;190;g314aef4ab30_0_4"/>
          <p:cNvSpPr txBox="1"/>
          <p:nvPr>
            <p:ph idx="1" type="body"/>
          </p:nvPr>
        </p:nvSpPr>
        <p:spPr>
          <a:xfrm>
            <a:off x="202550" y="861975"/>
            <a:ext cx="8708700" cy="11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Model accuracy plot shows that both training and validation values are close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The confusion matrix shows some </a:t>
            </a:r>
            <a:r>
              <a:rPr lang="en"/>
              <a:t>incorrect</a:t>
            </a:r>
            <a:r>
              <a:rPr lang="en"/>
              <a:t> </a:t>
            </a:r>
            <a:r>
              <a:rPr lang="en"/>
              <a:t>predictions</a:t>
            </a:r>
            <a:r>
              <a:rPr lang="en"/>
              <a:t> for Fat Hen. Loosely-Silky Bent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Model evaluation was done using accuracy as it is most used metric for classification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The base model has an accuracy of</a:t>
            </a:r>
            <a:r>
              <a:rPr b="1" lang="en"/>
              <a:t> 0</a:t>
            </a:r>
            <a:r>
              <a:rPr lang="en"/>
              <a:t>.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6189 </a:t>
            </a:r>
            <a:r>
              <a:rPr lang="en"/>
              <a:t> and loss of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1.1928 </a:t>
            </a:r>
            <a:r>
              <a:rPr lang="en"/>
              <a:t>on test data </a:t>
            </a:r>
            <a:br>
              <a:rPr lang="en"/>
            </a:br>
            <a:endParaRPr/>
          </a:p>
        </p:txBody>
      </p:sp>
      <p:pic>
        <p:nvPicPr>
          <p:cNvPr id="191" name="Google Shape;191;g314aef4ab30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774" y="2203800"/>
            <a:ext cx="3676225" cy="29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14aef4ab30_0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9" y="2056875"/>
            <a:ext cx="3322658" cy="308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14aef4ab30_0_1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974D2"/>
                </a:solidFill>
              </a:rPr>
              <a:t>Model Performance Summary - Improved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14aef4ab30_0_12"/>
          <p:cNvSpPr txBox="1"/>
          <p:nvPr>
            <p:ph idx="1" type="body"/>
          </p:nvPr>
        </p:nvSpPr>
        <p:spPr>
          <a:xfrm>
            <a:off x="202550" y="861975"/>
            <a:ext cx="8629800" cy="11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The base model’s performance was improved by 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500"/>
              <a:t>Reducing learning rate by using  ReduceLRonPlateau function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500"/>
              <a:t>Data augmentation was </a:t>
            </a:r>
            <a:r>
              <a:rPr lang="en" sz="1500"/>
              <a:t>applied by </a:t>
            </a:r>
            <a:r>
              <a:rPr lang="en" sz="1500"/>
              <a:t>generating new images, and rotation of images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This improved model </a:t>
            </a:r>
            <a:r>
              <a:rPr lang="en"/>
              <a:t>has an increased accuracy of 0.6779 with a reduced loss of 1.0513 on test data</a:t>
            </a:r>
            <a:br>
              <a:rPr lang="en">
                <a:solidFill>
                  <a:schemeClr val="dk1"/>
                </a:solidFill>
              </a:rPr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g314aef4ab30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817" y="2051775"/>
            <a:ext cx="4807808" cy="307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4aef4ab30_0_1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974D2"/>
                </a:solidFill>
              </a:rPr>
              <a:t>Model Performance Summary - Improved Model</a:t>
            </a:r>
            <a:endParaRPr/>
          </a:p>
        </p:txBody>
      </p:sp>
      <p:sp>
        <p:nvSpPr>
          <p:cNvPr id="205" name="Google Shape;205;g314aef4ab30_0_1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The model performances better than base model on train and validation datasets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The confusion matrix shows improvement in predictions made with fewer false positives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The improved </a:t>
            </a:r>
            <a:r>
              <a:rPr lang="en"/>
              <a:t>model has an accuracy of 0.7263 and loss of 0.8738  on test data </a:t>
            </a:r>
            <a:br>
              <a:rPr lang="en">
                <a:solidFill>
                  <a:schemeClr val="dk1"/>
                </a:solidFill>
              </a:rPr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g314aef4ab30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200" y="1947450"/>
            <a:ext cx="3991674" cy="31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14aef4ab30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1875" y="1707150"/>
            <a:ext cx="3694676" cy="3432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4a450a78e6_0_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Conclusion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213" name="Google Shape;213;g14a450a78e6_0_0"/>
          <p:cNvSpPr txBox="1"/>
          <p:nvPr/>
        </p:nvSpPr>
        <p:spPr>
          <a:xfrm>
            <a:off x="676425" y="924350"/>
            <a:ext cx="7515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Using C</a:t>
            </a:r>
            <a:r>
              <a:rPr lang="en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NN-model to predict the class of a plant, which works well for image classification</a:t>
            </a:r>
            <a:br>
              <a:rPr lang="en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CNN with Batch Normalization, Maxpooling, Flattening, Dropouts and Dense layers is a good combination for image classification</a:t>
            </a:r>
            <a:br>
              <a:rPr lang="en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Model performance can be enhanced using loss reduction and data augmentation techniques</a:t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0e9006cb6c_1_20"/>
          <p:cNvSpPr txBox="1"/>
          <p:nvPr>
            <p:ph type="ctrTitle"/>
          </p:nvPr>
        </p:nvSpPr>
        <p:spPr>
          <a:xfrm>
            <a:off x="0" y="2820425"/>
            <a:ext cx="9144000" cy="5817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300">
                <a:solidFill>
                  <a:schemeClr val="lt1"/>
                </a:solidFill>
              </a:rPr>
              <a:t>APPENDIX</a:t>
            </a:r>
            <a:endParaRPr sz="3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0ae355dec7_0_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Data Background and Contents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224" name="Google Shape;224;g10ae355dec7_0_0"/>
          <p:cNvSpPr txBox="1"/>
          <p:nvPr>
            <p:ph idx="1" type="body"/>
          </p:nvPr>
        </p:nvSpPr>
        <p:spPr>
          <a:xfrm>
            <a:off x="202550" y="861975"/>
            <a:ext cx="8629800" cy="4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CNN model was chosen as it is extremely effective for image classifications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dataset was divided into three parts such as training (80%) and validation (10%) and test </a:t>
            </a:r>
            <a:r>
              <a:rPr lang="en" sz="1400">
                <a:solidFill>
                  <a:schemeClr val="dk1"/>
                </a:solidFill>
              </a:rPr>
              <a:t>(10%) </a:t>
            </a:r>
            <a:r>
              <a:rPr lang="en" sz="1400">
                <a:solidFill>
                  <a:schemeClr val="dk1"/>
                </a:solidFill>
              </a:rPr>
              <a:t>sets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data was pre-processed using -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Data normalization, Image resizing, Label encoding, Converting from BGR to RGB format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Model performance was improved using - 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Image augmentation, loss reduction, adding dropout layer to reduce overfitting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model was evaluated by comparing training and validation performances using -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Classification Report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Confusion Matrix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0ee00f67ea_0_55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32" name="Google Shape;232;g10ee00f67ea_0_55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